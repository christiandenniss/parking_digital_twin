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0" y="0"/>
            <a:ext cx="7616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0" y="3200400"/>
            <a:ext cx="1828800" cy="508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46320" y="1645920"/>
            <a:ext cx="6858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222222"/>
                </a:solidFill>
              </a:rPr>
              <a:t>UNBSJ Parking Digital Twin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365760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55555"/>
                </a:solidFill>
              </a:rPr>
              <a:t>CS 4555 Final Project  ·  April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7432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UNBSJ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914400"/>
            <a:ext cx="4023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Parking Digital Twin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5303520"/>
            <a:ext cx="4023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CCCC"/>
                </a:solidFill>
              </a:rPr>
              <a:t>CS 4555 — Final Project
Group A/B: Christian, Farbod, Miko, Obi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381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System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188720"/>
            <a:ext cx="5394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A full-stack digital twin of all 16 UNBSJ parking lots, modelling and predicting parking demand and vacancy across campus in real time.</a:t>
            </a:r>
          </a:p>
          <a:p>
            <a:pPr algn="l">
              <a:spcBef>
                <a:spcPts val="600"/>
              </a:spcBef>
            </a:pPr>
            <a:r>
              <a:rPr sz="1400" b="1" i="0">
                <a:solidFill>
                  <a:srgbClr val="222222"/>
                </a:solidFill>
              </a:rPr>
              <a:t>Core Pillars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Real institutional data — scraped UNB course schedules, enrolment counts, residence data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Behavioural modelling — attendance rates, commuter split, transportation modes, carpooling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Hybrid prediction — Process-Based Model curves + Data-Driven residual correction layer (DDM)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Real external data — 35,705 real parking observations imported from UCI Birmingham dataset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Live guidance — 30-second visibility-aware polling, spot-level SVG mini-maps, personalised recommendations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188720"/>
            <a:ext cx="5394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600"/>
              </a:spcBef>
            </a:pPr>
            <a:r>
              <a:rPr sz="1400" b="1" i="0">
                <a:solidFill>
                  <a:srgbClr val="222222"/>
                </a:solidFill>
              </a:rPr>
              <a:t>What the system delivers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Current occupancy view per lot and per individual spot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Predictive occupancy forecasts for any future date/time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Optimal lot + spot recommendation for a specific building or full class schedule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What-If scenario explorer — campus-wide and personal schedule views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Guest quick-recommend endpoint (no login required)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Event-size modelling (small / medium / large campus events)</a:t>
            </a:r>
          </a:p>
          <a:p>
            <a:pPr algn="l">
              <a:spcBef>
                <a:spcPts val="600"/>
              </a:spcBef>
            </a:pPr>
            <a:r>
              <a:rPr sz="1400" b="1" i="0">
                <a:solidFill>
                  <a:srgbClr val="222222"/>
                </a:solidFill>
              </a:rPr>
              <a:t>Deployed Stack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Frontend → Vercel (React 18 + Vite + Tailwind)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Backend → Fly.io (Node.js + Express + TypeORM)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Database → Supabase PostgreSQL (prod) / SQLite (local)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Maps → Google Earth Engine + GeoNB 2025 satellite imagery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381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How It Works — High Level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188720"/>
            <a:ext cx="5394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600"/>
              </a:spcBef>
            </a:pPr>
            <a:r>
              <a:rPr sz="1400" b="1" i="0">
                <a:solidFill>
                  <a:srgbClr val="222222"/>
                </a:solidFill>
              </a:rPr>
              <a:t>1  Data Collection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Student enrolment, residence data, course schedules scraped from UNB Self-Service API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Staff population modelled from institutional data (650–950 estimated staff)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Behavioural assumptions: attendance 75–85 %, solo-driver 75–85 %, carpool 5–15 %</a:t>
            </a:r>
          </a:p>
          <a:p>
            <a:pPr algn="l">
              <a:spcBef>
                <a:spcPts val="600"/>
              </a:spcBef>
            </a:pPr>
            <a:r>
              <a:rPr sz="1400" b="1" i="0">
                <a:solidFill>
                  <a:srgbClr val="222222"/>
                </a:solidFill>
              </a:rPr>
              <a:t>2  Campus Presence Modelling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15-minute time slots: sum enrolled students in active classes + 1 instructor each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Add non-teaching staff by time-of-day range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Convert people → vehicles using attendance × commuter × solo/carpool split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Output: pplOnCampusByTime.json — vehicles on campus (min / midpoint / max)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188720"/>
            <a:ext cx="5394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600"/>
              </a:spcBef>
            </a:pPr>
            <a:r>
              <a:rPr sz="1400" b="1" i="0">
                <a:solidFill>
                  <a:srgbClr val="222222"/>
                </a:solidFill>
              </a:rPr>
              <a:t>3  Prediction Engine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Process-Based Model: per-lot-type occupancy curves × academic calendar period × day-of-week multiplier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DDM residual layer: tanh-weighted correction from historical observations (weight = tanh(n/10))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Campus parameters (carpool_rate, absence_rate, etc.) stored in DB and applied at runtime</a:t>
            </a:r>
          </a:p>
          <a:p>
            <a:pPr algn="l">
              <a:spcBef>
                <a:spcPts val="600"/>
              </a:spcBef>
            </a:pPr>
            <a:r>
              <a:rPr sz="1400" b="1" i="0">
                <a:solidFill>
                  <a:srgbClr val="222222"/>
                </a:solidFill>
              </a:rPr>
              <a:t>4  Outputs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Predicted occupancy % and free spots per lot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Confidence level: live · data-backed · curve-estimate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Best lot + specific spot recommendation (occupancy-aware spread selection)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Day-profile charts and next-hour forecasts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Personal what-if comparison (baseline vs event scenario)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381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Database Schema — Core Tables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188720"/>
            <a:ext cx="5394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600"/>
              </a:spcBef>
            </a:pPr>
            <a:r>
              <a:rPr sz="1400" b="1" i="0">
                <a:solidFill>
                  <a:srgbClr val="222222"/>
                </a:solidFill>
              </a:rPr>
              <a:t>Parking System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parking_lots — name, campus, capacity, imageUrl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parking_spots — label, section, row, slotIndex, isAccessible, distanceToEntrance, parkingLotId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parking_spot_readings — status (empty/occupied), recordedAt, parkingSpotId</a:t>
            </a:r>
          </a:p>
          <a:p>
            <a:pPr algn="l">
              <a:spcBef>
                <a:spcPts val="600"/>
              </a:spcBef>
            </a:pPr>
            <a:r>
              <a:rPr sz="1400" b="1" i="0">
                <a:solidFill>
                  <a:srgbClr val="222222"/>
                </a:solidFill>
              </a:rPr>
              <a:t>Prediction &amp; Analytics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historical_proxy_data — sourceName (lot UUID), recordedAt, occupancyPct, metadata (period, eventSize, source)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lot_occupancy_corrections — lotId, hour, dayOfWeek, period, meanResidual, nSamples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campus_parameters — key, value, description (carpool_rate, absence_rate, effective_driver_rate, …)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188720"/>
            <a:ext cx="5394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600"/>
              </a:spcBef>
            </a:pPr>
            <a:r>
              <a:rPr sz="1400" b="1" i="0">
                <a:solidFill>
                  <a:srgbClr val="222222"/>
                </a:solidFill>
              </a:rPr>
              <a:t>User &amp; Academic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users — email, passwordHash, role, resident, disabled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students — userId, studentId, year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classes — classCode, startTime, endTime, building, enrolled, capacity, term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class_schedule — studentId, classId, term, section</a:t>
            </a:r>
          </a:p>
          <a:p>
            <a:pPr algn="l">
              <a:spcBef>
                <a:spcPts val="600"/>
              </a:spcBef>
            </a:pPr>
            <a:r>
              <a:rPr sz="1400" b="1" i="0">
                <a:solidFill>
                  <a:srgbClr val="222222"/>
                </a:solidFill>
              </a:rPr>
              <a:t>Spatial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buildings — code, name, floors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lot_building_distances — parkingLotId, buildingId, distanceMeters (192 manually mapped routes)</a:t>
            </a:r>
          </a:p>
          <a:p>
            <a:pPr algn="l">
              <a:spcBef>
                <a:spcPts val="600"/>
              </a:spcBef>
            </a:pPr>
            <a:r>
              <a:rPr sz="1400" b="1" i="0">
                <a:solidFill>
                  <a:srgbClr val="222222"/>
                </a:solidFill>
              </a:rPr>
              <a:t>Key Design Patterns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TypeORM entities define schema in TypeScript — type-safe, no raw SQL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Zod schemas validate all incoming API payloads at runtime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Composite PK on lot_occupancy_corrections (lotId, hour, dayOfWeek, period)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381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Population Data &amp; Behavioural Assumptions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188720"/>
            <a:ext cx="5394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600"/>
              </a:spcBef>
            </a:pPr>
            <a:r>
              <a:rPr sz="1400" b="1" i="0">
                <a:solidFill>
                  <a:srgbClr val="222222"/>
                </a:solidFill>
              </a:rPr>
              <a:t>Student Population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Total: 2,319  (Undergraduate: 2,161 · Graduate: 158)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Source: UNB Enrolment Data — Faculty Communication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Residence: 300 (~12.9 %)  |  Commuter: 2,019 (~87.1 %)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Source: UNB Residence Data — Faculty Communication</a:t>
            </a:r>
          </a:p>
          <a:p>
            <a:pPr algn="l">
              <a:spcBef>
                <a:spcPts val="600"/>
              </a:spcBef>
            </a:pPr>
            <a:r>
              <a:rPr sz="1400" b="1" i="0">
                <a:solidFill>
                  <a:srgbClr val="222222"/>
                </a:solidFill>
              </a:rPr>
              <a:t>Student Assumptions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Class attendance rate: 75–85 %  (NSSE studies)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Solo drivers: 75–85 %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Carpool: 5–15 %  (avg size 2.0–2.5 people/vehicle)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Public transit: 5–10 %</a:t>
            </a:r>
          </a:p>
          <a:p>
            <a:pPr algn="l">
              <a:spcBef>
                <a:spcPts val="600"/>
              </a:spcBef>
            </a:pPr>
            <a:r>
              <a:rPr sz="1400" b="1" i="0">
                <a:solidFill>
                  <a:srgbClr val="222222"/>
                </a:solidFill>
              </a:rPr>
              <a:t>Campus Parameters (stored in DB, runtime-applied)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carpool_rate = 0.12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non_driver_rate = 0.35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effective_driver_rate = 0.53  (auto-derived)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absence_rate = 0.15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friday_absence_mult = 1.33  |  monday_absence_mult = 1.13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188720"/>
            <a:ext cx="5394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600"/>
              </a:spcBef>
            </a:pPr>
            <a:r>
              <a:rPr sz="1400" b="1" i="0">
                <a:solidFill>
                  <a:srgbClr val="222222"/>
                </a:solidFill>
              </a:rPr>
              <a:t>Staff Population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Estimated 650–950 total staff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Derived from ~3,200 UNB-wide staff, scaled to UNBSJ's ~20–30 % student share</a:t>
            </a:r>
          </a:p>
          <a:p>
            <a:pPr algn="l">
              <a:spcBef>
                <a:spcPts val="600"/>
              </a:spcBef>
            </a:pPr>
            <a:r>
              <a:rPr sz="1400" b="1" i="0">
                <a:solidFill>
                  <a:srgbClr val="222222"/>
                </a:solidFill>
              </a:rPr>
              <a:t>Staff Distribution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Academic: 25–30 %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Administrative: 30–35 %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Support: 25–30 %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Casual: 10–15 %</a:t>
            </a:r>
          </a:p>
          <a:p>
            <a:pPr algn="l">
              <a:spcBef>
                <a:spcPts val="600"/>
              </a:spcBef>
            </a:pPr>
            <a:r>
              <a:rPr sz="1400" b="1" i="0">
                <a:solidFill>
                  <a:srgbClr val="222222"/>
                </a:solidFill>
              </a:rPr>
              <a:t>Work Mode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On-site: 50–60 %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Hybrid: 30–40 %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Remote: 5–10 %</a:t>
            </a:r>
          </a:p>
          <a:p>
            <a:pPr algn="l">
              <a:spcBef>
                <a:spcPts val="600"/>
              </a:spcBef>
            </a:pPr>
            <a:r>
              <a:rPr sz="1400" b="1" i="0">
                <a:solidFill>
                  <a:srgbClr val="222222"/>
                </a:solidFill>
              </a:rPr>
              <a:t>Demand Multiplier (per day-of-week)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getDemandMultiplier(dow) =</a:t>
            </a:r>
          </a:p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555555"/>
                </a:solidFill>
              </a:rPr>
              <a:t>      effective_driver_rate × (1 − absence_rate × dow_mult)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Applied to enrolment counts before normalising occupancy curve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381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Hybrid Prediction Model — PBM + DDM</a:t>
            </a:r>
          </a:p>
        </p:txBody>
      </p:sp>
      <p:sp>
        <p:nvSpPr>
          <p:cNvPr id="5" name="Rectangle 4"/>
          <p:cNvSpPr/>
          <p:nvPr/>
        </p:nvSpPr>
        <p:spPr>
          <a:xfrm>
            <a:off x="10241280" y="182880"/>
            <a:ext cx="1645920" cy="5943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0" y="201168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IMPLEMENTED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188720"/>
            <a:ext cx="5394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600"/>
              </a:spcBef>
            </a:pPr>
            <a:r>
              <a:rPr sz="1400" b="1" i="0">
                <a:solidFill>
                  <a:srgbClr val="222222"/>
                </a:solidFill>
              </a:rPr>
              <a:t>Process-Based Model (PBM) — always runs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Per-lot-type occupancy curves: general, staff, resident, timed, phd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Multiplied by academic calendar period (classes=1.0, exams=0.70, holiday=0.08, …)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Multiplied by day-of-week demand multiplier from campus_parameters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Weekend multipliers applied per lot type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Event boost: none/small/medium/large × lot sensitivity × weekend bonus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Enrollment activity index: 0.85 + 0.30 × activityIndex (when useEnrollment=true)</a:t>
            </a:r>
          </a:p>
          <a:p>
            <a:pPr algn="l">
              <a:spcBef>
                <a:spcPts val="600"/>
              </a:spcBef>
            </a:pPr>
            <a:r>
              <a:rPr sz="1400" b="1" i="0">
                <a:solidFill>
                  <a:srgbClr val="222222"/>
                </a:solidFill>
              </a:rPr>
              <a:t>Confidence Levels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data — ≥3 historical samples found for this lot/hour/dow/period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curve — fell back to PBM curve (DDM residual still applied)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live — real sensor reading within last polling cycle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188720"/>
            <a:ext cx="5394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600"/>
              </a:spcBef>
            </a:pPr>
            <a:r>
              <a:rPr sz="1400" b="1" i="0">
                <a:solidFill>
                  <a:srgbClr val="222222"/>
                </a:solidFill>
              </a:rPr>
              <a:t>Data-Driven Residual Layer (DDM) — hybrid correction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Residuals stored in lot_occupancy_corrections keyed by (lotId, hour, dayOfWeek, period)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Trust weight = tanh(nSamples / 10)  — ramps from 0 → ~0.96 at 20 samples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Final = curve + weight × meanResidual</a:t>
            </a:r>
          </a:p>
          <a:p>
            <a:pPr algn="l">
              <a:spcBef>
                <a:spcPts val="600"/>
              </a:spcBef>
            </a:pPr>
            <a:r>
              <a:rPr sz="1400" b="1" i="0">
                <a:solidFill>
                  <a:srgbClr val="222222"/>
                </a:solidFill>
              </a:rPr>
              <a:t>Real Data Sources (35,705 records)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UCI Parking Birmingham dataset (CC BY 4.0, Stolfi 2017)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30 NCP car parks, Oct–Dec 2016 → remapped to UNB fall 2024 calendar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Round-robined to 6 UNB general lots by UUID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28,428 classes · 5,279 exams · 1,998 other period records</a:t>
            </a:r>
          </a:p>
          <a:p>
            <a:pPr algn="l">
              <a:spcBef>
                <a:spcPts val="600"/>
              </a:spcBef>
            </a:pPr>
            <a:r>
              <a:rPr sz="1400" b="1" i="0">
                <a:solidFill>
                  <a:srgbClr val="222222"/>
                </a:solidFill>
              </a:rPr>
              <a:t>Residual Generation Scripts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npm run gen-residuals — non-event corrections (15,744 slots updated)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npm run gen-event-residuals — event/weekend corrections</a:t>
            </a:r>
          </a:p>
          <a:p>
            <a:pPr algn="l">
              <a:spcBef>
                <a:spcPts val="600"/>
              </a:spcBef>
            </a:pPr>
            <a:r>
              <a:rPr sz="1400" b="1" i="0">
                <a:solidFill>
                  <a:srgbClr val="222222"/>
                </a:solidFill>
              </a:rPr>
              <a:t>Why Not Fully Data-Driven (yet)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UNB-specific real sensor data not yet available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Birmingham data provides real shape of demand; UNB calibration pending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381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Walking Paths &amp; Spatial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188720"/>
            <a:ext cx="5394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600"/>
              </a:spcBef>
            </a:pPr>
            <a:r>
              <a:rPr sz="1400" b="1" i="0">
                <a:solidFill>
                  <a:srgbClr val="222222"/>
                </a:solidFill>
              </a:rPr>
              <a:t>The Problem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Straight-line distance ignores sidewalks, construction zones, physical terrain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GeneralParking1 → Oland Hall: 160 m straight line vs 207 m actual route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Inaccurate distances break the entire recommendation engine</a:t>
            </a:r>
          </a:p>
          <a:p>
            <a:pPr algn="l">
              <a:spcBef>
                <a:spcPts val="600"/>
              </a:spcBef>
            </a:pPr>
            <a:r>
              <a:rPr sz="1400" b="1" i="0">
                <a:solidFill>
                  <a:srgbClr val="222222"/>
                </a:solidFill>
              </a:rPr>
              <a:t>Our Solution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192 routes manually mapped by active UNBSJ students using Google Earth paths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16 parking lots × 12 buildings = every lot-to-building pairing covered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Routes account for current campus construction, roads, and sidewalks</a:t>
            </a:r>
          </a:p>
          <a:p>
            <a:pPr algn="l">
              <a:spcBef>
                <a:spcPts val="600"/>
              </a:spcBef>
            </a:pPr>
            <a:r>
              <a:rPr sz="1400" b="1" i="0">
                <a:solidFill>
                  <a:srgbClr val="222222"/>
                </a:solidFill>
              </a:rPr>
              <a:t>Spot-Level Distance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recalc-distances script: parses spot labels (PREF-SECTION-NNN)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distance = 8 + sectionIndex×10 + spotNumber×0.8, clamped [5, 80] m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Stored in parking_spots.distanceToEntrance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188720"/>
            <a:ext cx="5394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600"/>
              </a:spcBef>
            </a:pPr>
            <a:r>
              <a:rPr sz="1400" b="1" i="0">
                <a:solidFill>
                  <a:srgbClr val="222222"/>
                </a:solidFill>
              </a:rPr>
              <a:t>lot_building_distances Table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parkingLotId (UUID FK)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buildingId (UUID FK)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distanceMeters (float)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Precomputed bridge table — O(1) lookup per lot-building pair</a:t>
            </a:r>
          </a:p>
          <a:p>
            <a:pPr algn="l">
              <a:spcBef>
                <a:spcPts val="600"/>
              </a:spcBef>
            </a:pPr>
            <a:r>
              <a:rPr sz="1400" b="1" i="0">
                <a:solidFill>
                  <a:srgbClr val="222222"/>
                </a:solidFill>
              </a:rPr>
              <a:t>How Recommendations Use This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Lot scored by: predictedFreeSpots × eligibility × distance to target building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Spot selected within winning lot by distanceToEntrance to lot entrance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walkMinutes returned to user = distanceMeters / 80 (m/min walking speed)</a:t>
            </a:r>
          </a:p>
          <a:p>
            <a:pPr algn="l">
              <a:spcBef>
                <a:spcPts val="600"/>
              </a:spcBef>
            </a:pPr>
            <a:r>
              <a:rPr sz="1400" b="1" i="0">
                <a:solidFill>
                  <a:srgbClr val="222222"/>
                </a:solidFill>
              </a:rPr>
              <a:t>Occupancy-Aware Spot Spread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&lt; 30 % occupancy → random from nearest quartile (spread parkers out)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≥ 30 % occupancy → pure nearest-first (fill efficiently)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Prevents clustering at entrance when lot is nearly empty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381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Interactive Campus Map &amp; Mini-Maps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188720"/>
            <a:ext cx="5394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600"/>
              </a:spcBef>
            </a:pPr>
            <a:r>
              <a:rPr sz="1400" b="1" i="0">
                <a:solidFill>
                  <a:srgbClr val="222222"/>
                </a:solidFill>
              </a:rPr>
              <a:t>Campus-Wide Map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Base map: Google Earth Engine API for geospatial rendering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High-res overlay: GeoNB 2025 Saint John satellite GeoTIFF, uploaded as GEE asset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Custom GeoJSON polygons for all 16 lots, stored as GEE assets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Map restricted to UNBSJ campus bounds (no free-scroll)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Clicking a lot polygon opens that lot's mini-map view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Live occupancy % shown per polygon via 30-second polling</a:t>
            </a:r>
          </a:p>
          <a:p>
            <a:pPr algn="l">
              <a:spcBef>
                <a:spcPts val="600"/>
              </a:spcBef>
            </a:pPr>
            <a:r>
              <a:rPr sz="1400" b="1" i="0">
                <a:solidFill>
                  <a:srgbClr val="222222"/>
                </a:solidFill>
              </a:rPr>
              <a:t>Polling Architecture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Visibility-aware: pauses when tab is hidden or device is offline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Cancelled flag prevents stale updates after component unmount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POLL_INTERVAL_MS = 30,000 (down from 5 s — reduces server load 6×)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188720"/>
            <a:ext cx="5394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600"/>
              </a:spcBef>
            </a:pPr>
            <a:r>
              <a:rPr sz="1400" b="1" i="0">
                <a:solidFill>
                  <a:srgbClr val="222222"/>
                </a:solidFill>
              </a:rPr>
              <a:t>SVG Mini-Maps (16 lots)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Each lot has a custom SVG built in Figma from satellite imagery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Exact real-world spot count, position, and angle per lot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Spots organised into rows (A, B, C, …) with IDs like A-001, A-002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Custom Figma export plugin required to preserve element IDs</a:t>
            </a:r>
          </a:p>
          <a:p>
            <a:pPr algn="l">
              <a:spcBef>
                <a:spcPts val="600"/>
              </a:spcBef>
            </a:pPr>
            <a:r>
              <a:rPr sz="1400" b="1" i="0">
                <a:solidFill>
                  <a:srgbClr val="222222"/>
                </a:solidFill>
              </a:rPr>
              <a:t>Spot Status Colours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Green — Available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Red — Occupied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Light Blue — Accessible (free)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Dark Blue — Accessible (occupied)</a:t>
            </a:r>
          </a:p>
          <a:p>
            <a:pPr algn="l">
              <a:spcBef>
                <a:spcPts val="600"/>
              </a:spcBef>
            </a:pPr>
            <a:r>
              <a:rPr sz="1400" b="1" i="0">
                <a:solidFill>
                  <a:srgbClr val="222222"/>
                </a:solidFill>
              </a:rPr>
              <a:t>Binding to Backend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SVG rect id → ParkingSpot.label → ParkingSpot.id (UUID)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seed.ts parses SVG for data-spot-label attributes to generate spots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Real-time status updates recolour SVG rects via React state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381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Course Data Collection &amp; Campus Presence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188720"/>
            <a:ext cx="5394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600"/>
              </a:spcBef>
            </a:pPr>
            <a:r>
              <a:rPr sz="1400" b="1" i="0">
                <a:solidFill>
                  <a:srgbClr val="222222"/>
                </a:solidFill>
              </a:rPr>
              <a:t>Web Scraping — UNB Self-Service API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Authenticated requests using token + session cookie from browser login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Paginated requests retrieve all course sections per term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Extracted: classCode, startTime, endTime, building, room, enrolled, capacity, term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Output normalised to 24-hour HH:mm format, saved as scraped-courses.json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Run once per semester via: npm run scrape-courses</a:t>
            </a:r>
          </a:p>
          <a:p>
            <a:pPr algn="l">
              <a:spcBef>
                <a:spcPts val="600"/>
              </a:spcBef>
            </a:pPr>
            <a:r>
              <a:rPr sz="1400" b="1" i="0">
                <a:solidFill>
                  <a:srgbClr val="222222"/>
                </a:solidFill>
              </a:rPr>
              <a:t>Seeding into DB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npm run seed-courses → populates classes and class_schedule tables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Deduplicates on classCode + term to allow re-runs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188720"/>
            <a:ext cx="5394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600"/>
              </a:spcBef>
            </a:pPr>
            <a:r>
              <a:rPr sz="1400" b="1" i="0">
                <a:solidFill>
                  <a:srgbClr val="222222"/>
                </a:solidFill>
              </a:rPr>
              <a:t>Campus Presence Modelling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For each 15-minute slot across the academic day:</a:t>
            </a:r>
          </a:p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555555"/>
                </a:solidFill>
              </a:rPr>
              <a:t>      Sum enrolled students in all active classes at that slot</a:t>
            </a:r>
          </a:p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555555"/>
                </a:solidFill>
              </a:rPr>
              <a:t>      Add 1 instructor per active class</a:t>
            </a:r>
          </a:p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555555"/>
                </a:solidFill>
              </a:rPr>
              <a:t>      Add non-teaching staff by time-of-day range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Apply attendance rate × commuter ratio → commuter students present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Apply solo/carpool split → vehicles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Output: pplOnCampusByTime.json with carsOnCampusMidpoint per slot</a:t>
            </a:r>
          </a:p>
          <a:p>
            <a:pPr algn="l">
              <a:spcBef>
                <a:spcPts val="600"/>
              </a:spcBef>
            </a:pPr>
            <a:r>
              <a:rPr sz="1400" b="1" i="0">
                <a:solidFill>
                  <a:srgbClr val="222222"/>
                </a:solidFill>
              </a:rPr>
              <a:t>activityCurve.service.ts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computeGlobalActivityCurve(targetDate) fetches demand multiplier by dow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Applies multiplier to enrolled count before normalising to 0–1 index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Used by prediction engine as enrollmentActivityIndex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381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Recommendation Engine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241280" y="182880"/>
            <a:ext cx="1645920" cy="5943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0" y="201168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IMPLEMENTED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188720"/>
            <a:ext cx="5394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600"/>
              </a:spcBef>
            </a:pPr>
            <a:r>
              <a:rPr sz="1400" b="1" i="0">
                <a:solidFill>
                  <a:srgbClr val="222222"/>
                </a:solidFill>
              </a:rPr>
              <a:t>Parking Eligibility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Each lot has eligibility rules: role, permit type, resident flag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recommendBestParking(userId, buildingId, datetime, options) filters eligible lots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Anonymous users fall back to DEFAULT_ANONYMOUS_PARKING_ELIGIBILITY (general lots only)</a:t>
            </a:r>
          </a:p>
          <a:p>
            <a:pPr algn="l">
              <a:spcBef>
                <a:spcPts val="600"/>
              </a:spcBef>
            </a:pPr>
            <a:r>
              <a:rPr sz="1400" b="1" i="0">
                <a:solidFill>
                  <a:srgbClr val="222222"/>
                </a:solidFill>
              </a:rPr>
              <a:t>Lot Scoring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Scored by: available spots, distance to target building, predicted occupancy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predictOccupancy() called for each candidate lot at the target time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Lots with &lt; 1 predicted free spot are excluded</a:t>
            </a:r>
          </a:p>
          <a:p>
            <a:pPr algn="l">
              <a:spcBef>
                <a:spcPts val="600"/>
              </a:spcBef>
            </a:pPr>
            <a:r>
              <a:rPr sz="1400" b="1" i="0">
                <a:solidFill>
                  <a:srgbClr val="222222"/>
                </a:solidFill>
              </a:rPr>
              <a:t>Spot Selection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Empty spots sorted by distanceToEntrance ascending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&lt; 30 % lot occupancy → random from nearest quartile (spread mode)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≥ 30 % lot occupancy → nearest-first (fill mode)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188720"/>
            <a:ext cx="5394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600"/>
              </a:spcBef>
            </a:pPr>
            <a:r>
              <a:rPr sz="1400" b="1" i="0">
                <a:solidFill>
                  <a:srgbClr val="222222"/>
                </a:solidFill>
              </a:rPr>
              <a:t>Quick Recommend (Guest Access)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GET /api/users/quick-recommend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optionalAuth middleware — works with or without JWT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Returns: lot, spot, distanceMeters, walkMinutes, occupancyPct, confidence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Supports Live mode (current state) and Forecast mode (predicted)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eventSize query param adjusts forecast for small/medium/large events</a:t>
            </a:r>
          </a:p>
          <a:p>
            <a:pPr algn="l">
              <a:spcBef>
                <a:spcPts val="600"/>
              </a:spcBef>
            </a:pPr>
            <a:r>
              <a:rPr sz="1400" b="1" i="0">
                <a:solidFill>
                  <a:srgbClr val="222222"/>
                </a:solidFill>
              </a:rPr>
              <a:t>Personalised Day Plan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GET /api/users/me/arrival-recommendation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Fetches user's full class schedule for the day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Groups classes by building, finds optimal lot per building cluster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Returns ordered plan: arrive-at time, lot name, spot label, walk minutes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Plan cached in Redis (5-min TTL) on prediction routes</a:t>
            </a:r>
          </a:p>
          <a:p>
            <a:pPr algn="l">
              <a:spcBef>
                <a:spcPts val="600"/>
              </a:spcBef>
            </a:pPr>
            <a:r>
              <a:rPr sz="1400" b="1" i="0">
                <a:solidFill>
                  <a:srgbClr val="222222"/>
                </a:solidFill>
              </a:rPr>
              <a:t>Personal What-If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GET /api/users/me/what-if-personal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Runs recommendBestParking() twice: baseline (no event) vs scenario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Returns side-by-side comparison with lotChanged and spotsDroppedBelow10 flags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381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What-If Scenario Explorer</a:t>
            </a:r>
          </a:p>
        </p:txBody>
      </p:sp>
      <p:sp>
        <p:nvSpPr>
          <p:cNvPr id="5" name="Rectangle 4"/>
          <p:cNvSpPr/>
          <p:nvPr/>
        </p:nvSpPr>
        <p:spPr>
          <a:xfrm>
            <a:off x="10241280" y="182880"/>
            <a:ext cx="1645920" cy="5943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0" y="201168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NOW IMPLEMENTED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188720"/>
            <a:ext cx="5394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600"/>
              </a:spcBef>
            </a:pPr>
            <a:r>
              <a:rPr sz="1400" b="1" i="0">
                <a:solidFill>
                  <a:srgbClr val="222222"/>
                </a:solidFill>
              </a:rPr>
              <a:t>Purpose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Allows users to simulate how campus events or schedule changes affect parking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Two independent tabs: Campus View and My Scenario</a:t>
            </a:r>
          </a:p>
          <a:p>
            <a:pPr algn="l">
              <a:spcBef>
                <a:spcPts val="600"/>
              </a:spcBef>
            </a:pPr>
            <a:r>
              <a:rPr sz="1400" b="1" i="0">
                <a:solidFill>
                  <a:srgbClr val="222222"/>
                </a:solidFill>
              </a:rPr>
              <a:t>Campus View Tab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Shows all 16 lots side-by-side: baseline vs event scenario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Shared controls: date, time, event size (none/small/medium/large)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Per-lot delta badges: occupancy change, free spots change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Colour-coded occupancy bars (green → amber → red)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Aggregated campus-wide summary: total spots affected</a:t>
            </a:r>
          </a:p>
          <a:p>
            <a:pPr algn="l">
              <a:spcBef>
                <a:spcPts val="600"/>
              </a:spcBef>
            </a:pPr>
            <a:r>
              <a:rPr sz="1400" b="1" i="0">
                <a:solidFill>
                  <a:srgbClr val="222222"/>
                </a:solidFill>
              </a:rPr>
              <a:t>Scenario Controls (shared)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Date picker, time picker, event size selector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All lots re-predicted simultaneously on control change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188720"/>
            <a:ext cx="5394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600"/>
              </a:spcBef>
            </a:pPr>
            <a:r>
              <a:rPr sz="1400" b="1" i="0">
                <a:solidFill>
                  <a:srgbClr val="222222"/>
                </a:solidFill>
              </a:rPr>
              <a:t>My Scenario Tab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Requires login — shows personalised impact based on user's actual schedule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Calls GET /api/users/me/what-if-personal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Side-by-side PersonalRecCard: baseline vs event scenario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LotChanged warning banner when event pushes user to a different lot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SpotsDroppedBelow10 warning when recommended lot becomes critically full</a:t>
            </a:r>
          </a:p>
          <a:p>
            <a:pPr algn="l">
              <a:spcBef>
                <a:spcPts val="600"/>
              </a:spcBef>
            </a:pPr>
            <a:r>
              <a:rPr sz="1400" b="1" i="0">
                <a:solidFill>
                  <a:srgbClr val="222222"/>
                </a:solidFill>
              </a:rPr>
              <a:t>Backend Handler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Fetches user's first building from schedule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Calls recommendBestParking() twice (baseline + event) directly — no full plan re-run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Returns lotChanged, spotsDroppedBelow10 comparison flags</a:t>
            </a:r>
          </a:p>
          <a:p>
            <a:pPr algn="l">
              <a:spcBef>
                <a:spcPts val="600"/>
              </a:spcBef>
            </a:pPr>
            <a:r>
              <a:rPr sz="1400" b="1" i="0">
                <a:solidFill>
                  <a:srgbClr val="222222"/>
                </a:solidFill>
              </a:rPr>
              <a:t>Previous State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Original presentation listed What-If as a 'Future Capability'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Now fully implemented with both campus-wide and personalised views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381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Key Scripts — Full Reference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188720"/>
            <a:ext cx="5394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600"/>
              </a:spcBef>
            </a:pPr>
            <a:r>
              <a:rPr sz="1400" b="1" i="0">
                <a:solidFill>
                  <a:srgbClr val="222222"/>
                </a:solidFill>
              </a:rPr>
              <a:t>Database Setup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npm run seed — full DB init (lots, spots, buildings, distances)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npm run seed-replace — rebuild parking tables, preserve users/courses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npm run seed-courses — populate classes + class_schedule from JSON</a:t>
            </a:r>
          </a:p>
          <a:p>
            <a:pPr algn="l">
              <a:spcBef>
                <a:spcPts val="600"/>
              </a:spcBef>
            </a:pPr>
            <a:r>
              <a:rPr sz="1400" b="1" i="0">
                <a:solidFill>
                  <a:srgbClr val="222222"/>
                </a:solidFill>
              </a:rPr>
              <a:t>Data Collection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npm run scrape-courses — scrape UNB Self-Service API → scraped-courses.json</a:t>
            </a:r>
          </a:p>
          <a:p>
            <a:pPr algn="l">
              <a:spcBef>
                <a:spcPts val="600"/>
              </a:spcBef>
            </a:pPr>
            <a:r>
              <a:rPr sz="1400" b="1" i="0">
                <a:solidFill>
                  <a:srgbClr val="222222"/>
                </a:solidFill>
              </a:rPr>
              <a:t>Historical Data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npm run gen-historical — generate synthetic proxy records (Sep 2024–Apr 2026)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npm run gen-historical-clear — clear table then regenerate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npm run import-birmingham — download + import UCI Birmingham real data (35,705 records)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npm run import-birmingham -- --clear — clear and reimport Birmingham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188720"/>
            <a:ext cx="5394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600"/>
              </a:spcBef>
            </a:pPr>
            <a:r>
              <a:rPr sz="1400" b="1" i="0">
                <a:solidFill>
                  <a:srgbClr val="222222"/>
                </a:solidFill>
              </a:rPr>
              <a:t>Residual Corrections (DDM Layer)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npm run gen-residuals — compute mean residuals for non-event records → lot_occupancy_corrections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npm run gen-event-residuals — compute event/weekend residuals with prefixed period keys</a:t>
            </a:r>
          </a:p>
          <a:p>
            <a:pPr algn="l">
              <a:spcBef>
                <a:spcPts val="600"/>
              </a:spcBef>
            </a:pPr>
            <a:r>
              <a:rPr sz="1400" b="1" i="0">
                <a:solidFill>
                  <a:srgbClr val="222222"/>
                </a:solidFill>
              </a:rPr>
              <a:t>Spot Attributes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npm run populate-spots — fill isAccessible, spotType from SVG fill colours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npm run recalc-distances — recompute distanceToEntrance from spot label parsing</a:t>
            </a:r>
          </a:p>
          <a:p>
            <a:pPr algn="l">
              <a:spcBef>
                <a:spcPts val="600"/>
              </a:spcBef>
            </a:pPr>
            <a:r>
              <a:rPr sz="1400" b="1" i="0">
                <a:solidFill>
                  <a:srgbClr val="222222"/>
                </a:solidFill>
              </a:rPr>
              <a:t>Full Re-initialisation Order</a:t>
            </a:r>
          </a:p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555555"/>
                </a:solidFill>
              </a:rPr>
              <a:t>      1. npm run seed</a:t>
            </a:r>
          </a:p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555555"/>
                </a:solidFill>
              </a:rPr>
              <a:t>      2. npm run seed-courses</a:t>
            </a:r>
          </a:p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555555"/>
                </a:solidFill>
              </a:rPr>
              <a:t>      3. npm run populate-spots</a:t>
            </a:r>
          </a:p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555555"/>
                </a:solidFill>
              </a:rPr>
              <a:t>      4. npm run recalc-distances</a:t>
            </a:r>
          </a:p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555555"/>
                </a:solidFill>
              </a:rPr>
              <a:t>      5. npm run gen-historical</a:t>
            </a:r>
          </a:p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555555"/>
                </a:solidFill>
              </a:rPr>
              <a:t>      6. npm run import-birmingham</a:t>
            </a:r>
          </a:p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555555"/>
                </a:solidFill>
              </a:rPr>
              <a:t>      7. npm run gen-residuals</a:t>
            </a:r>
          </a:p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555555"/>
                </a:solidFill>
              </a:rPr>
              <a:t>      8. npm run gen-event-residuals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381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System Architecture — 3-Tier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188720"/>
            <a:ext cx="5394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600"/>
              </a:spcBef>
            </a:pPr>
            <a:r>
              <a:rPr sz="1400" b="1" i="0">
                <a:solidFill>
                  <a:srgbClr val="222222"/>
                </a:solidFill>
              </a:rPr>
              <a:t>Tier 1 — Frontend (Vercel)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React 18 + Vite + Tailwind CSS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Automatic deploy on push to main branch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Preview environments for feature branches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Edge caching + static asset optimisation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Mobile hamburger nav, responsive layout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Visibility-aware 30-second polling (pauses when tab hidden)</a:t>
            </a:r>
          </a:p>
          <a:p>
            <a:pPr algn="l">
              <a:spcBef>
                <a:spcPts val="600"/>
              </a:spcBef>
            </a:pPr>
            <a:r>
              <a:rPr sz="1400" b="1" i="0">
                <a:solidFill>
                  <a:srgbClr val="222222"/>
                </a:solidFill>
              </a:rPr>
              <a:t>Tier 2 — Backend (Fly.io)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Node.js + Express + TypeScript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Lightweight Fly Machines (shared-cpu-1x @ 1024 MB)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Canadian region (YYZ) — low latency for UNBSJ users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Scales horizontally; suspends when idle to reduce cost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Request logging middleware — all calls logged to Fly dashboard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Redis caching on prediction routes (5-min TTL, optional fallback)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188720"/>
            <a:ext cx="5394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600"/>
              </a:spcBef>
            </a:pPr>
            <a:r>
              <a:rPr sz="1400" b="1" i="0">
                <a:solidFill>
                  <a:srgbClr val="222222"/>
                </a:solidFill>
              </a:rPr>
              <a:t>Tier 3 — Database (Supabase / SQLite)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Production: Supabase-hosted PostgreSQL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Local development: SQLite via better-sqlite3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APP_MODE env var switches between local and production paths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TypeORM handles schema sync and all queries</a:t>
            </a:r>
          </a:p>
          <a:p>
            <a:pPr algn="l">
              <a:spcBef>
                <a:spcPts val="600"/>
              </a:spcBef>
            </a:pPr>
            <a:r>
              <a:rPr sz="1400" b="1" i="0">
                <a:solidFill>
                  <a:srgbClr val="222222"/>
                </a:solidFill>
              </a:rPr>
              <a:t>External APIs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Google Earth Engine — map rendering, lot polygon overlays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GeoNB 2025 — high-resolution satellite imagery asset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UNB Self-Service API — course schedule scraping (authenticated)</a:t>
            </a:r>
          </a:p>
          <a:p>
            <a:pPr algn="l">
              <a:spcBef>
                <a:spcPts val="600"/>
              </a:spcBef>
            </a:pPr>
            <a:r>
              <a:rPr sz="1400" b="1" i="0">
                <a:solidFill>
                  <a:srgbClr val="222222"/>
                </a:solidFill>
              </a:rPr>
              <a:t>CI/CD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GitHub → Vercel (frontend auto-deploy)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GitHub → Fly.io (backend deploy via fly deploy)</a:t>
            </a:r>
          </a:p>
          <a:p>
            <a:pPr algn="l">
              <a:spcBef>
                <a:spcPts val="600"/>
              </a:spcBef>
            </a:pPr>
            <a:r>
              <a:rPr sz="1400" b="1" i="0">
                <a:solidFill>
                  <a:srgbClr val="222222"/>
                </a:solidFill>
              </a:rPr>
              <a:t>CORS Policy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Local mode: permissive cors() for development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Production mode: origin-restricted to FRONTEND_ORIGIN env var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381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Infrastructure — Vercel · Fly.io · Supabase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188720"/>
            <a:ext cx="5394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600"/>
              </a:spcBef>
            </a:pPr>
            <a:r>
              <a:rPr sz="1400" b="1" i="0">
                <a:solidFill>
                  <a:srgbClr val="222222"/>
                </a:solidFill>
              </a:rPr>
              <a:t>Vercel — Frontend Hosting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Hosts React frontend with global CDN distribution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Zero-config deployments — push to main → live in seconds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Preview deployments for every PR — test before merging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Edge caching reduces latency for users across Canada</a:t>
            </a:r>
          </a:p>
          <a:p>
            <a:pPr algn="l">
              <a:spcBef>
                <a:spcPts val="600"/>
              </a:spcBef>
            </a:pPr>
            <a:r>
              <a:rPr sz="1400" b="1" i="0">
                <a:solidFill>
                  <a:srgbClr val="222222"/>
                </a:solidFill>
              </a:rPr>
              <a:t>Fly.io — Backend Hosting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Runs Node.js inside lightweight Fly Machines (containers)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Canadian region (YYZ) for UNBSJ proximity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Auto-scales horizontally based on traffic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Suspends machines during low traffic to minimise cost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Health checks + automatic restarts ensure availability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Built-in load balancing across instances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188720"/>
            <a:ext cx="5394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600"/>
              </a:spcBef>
            </a:pPr>
            <a:r>
              <a:rPr sz="1400" b="1" i="0">
                <a:solidFill>
                  <a:srgbClr val="222222"/>
                </a:solidFill>
              </a:rPr>
              <a:t>Supabase — Managed Database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Cloud-hosted PostgreSQL for all production data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Stores: parking, users, schedules, historical proxy data, residuals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Dashboard for live table visualisation and SQL queries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Identifies dead tables and misaligned relationships visually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Eliminates need to manage database infrastructure</a:t>
            </a:r>
          </a:p>
          <a:p>
            <a:pPr algn="l">
              <a:spcBef>
                <a:spcPts val="600"/>
              </a:spcBef>
            </a:pPr>
            <a:r>
              <a:rPr sz="1400" b="1" i="0">
                <a:solidFill>
                  <a:srgbClr val="222222"/>
                </a:solidFill>
              </a:rPr>
              <a:t>Environment Switching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APP_MODE=local → better-sqlite3 (file-based, no network)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APP_MODE=production → PostgreSQL via DATABASE_CONNECTION_STRING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EARTH_ENGINE_CREDENTIALS_JSON → service account JSON from env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EARTH_ENGINE_CLIENT_EMAIL + EARTH_ENGINE_PRIVATE_KEY → split-key fallback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FRONTEND_ORIGIN → restricts CORS in production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REDIS_URL → optional; caching degrades gracefully if absent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381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Data Integrity — TypeORM + Zod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188720"/>
            <a:ext cx="5394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600"/>
              </a:spcBef>
            </a:pPr>
            <a:r>
              <a:rPr sz="1400" b="1" i="0">
                <a:solidFill>
                  <a:srgbClr val="222222"/>
                </a:solidFill>
              </a:rPr>
              <a:t>TypeORM — How Data Is Stored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Schema defined in TypeScript entity classes — no raw SQL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Decorators: @Entity, @Column, @PrimaryGeneratedColumn, @OneToMany, @ManyToOne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Composite primary keys via @PrimaryColumn on bridge tables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Relationships explicit and type-safe (e.g. ParkingLot → ParkingSpot[])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synchronize: true in local mode auto-migrates schema changes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Migrations used in production for controlled schema evolution</a:t>
            </a:r>
          </a:p>
          <a:p>
            <a:pPr algn="l">
              <a:spcBef>
                <a:spcPts val="600"/>
              </a:spcBef>
            </a:pPr>
            <a:r>
              <a:rPr sz="1400" b="1" i="0">
                <a:solidFill>
                  <a:srgbClr val="222222"/>
                </a:solidFill>
              </a:rPr>
              <a:t>Key Entities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ParkingLot, ParkingSpot, ParkingSpotLog (table: parking_spot_readings)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HistoricalProxyData, LotOccupancyCorrection, CampusParameter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User, Student, Course, ClassSchedule, Building, LotBuildingDistance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188720"/>
            <a:ext cx="5394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600"/>
              </a:spcBef>
            </a:pPr>
            <a:r>
              <a:rPr sz="1400" b="1" i="0">
                <a:solidFill>
                  <a:srgbClr val="222222"/>
                </a:solidFill>
              </a:rPr>
              <a:t>Zod — What Data Is Allowed In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Runtime validation on all incoming API payloads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Prevents malformed data reaching the database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Single source of truth for expected request shapes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Consistent error responses with field-level messages</a:t>
            </a:r>
          </a:p>
          <a:p>
            <a:pPr algn="l">
              <a:spcBef>
                <a:spcPts val="600"/>
              </a:spcBef>
            </a:pPr>
            <a:r>
              <a:rPr sz="1400" b="1" i="0">
                <a:solidFill>
                  <a:srgbClr val="222222"/>
                </a:solidFill>
              </a:rPr>
              <a:t>Schemas in place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createParkingLotSchema / updateParkingLotSchema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recommendParkingSchema — buildingId, stateMode, predictedFreeSpots, predictedSpotStatuses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createUserSchema / loginSchema / patchMeSchema</a:t>
            </a:r>
          </a:p>
          <a:p>
            <a:pPr algn="l">
              <a:spcBef>
                <a:spcPts val="600"/>
              </a:spcBef>
            </a:pPr>
            <a:r>
              <a:rPr sz="1400" b="1" i="0">
                <a:solidFill>
                  <a:srgbClr val="222222"/>
                </a:solidFill>
              </a:rPr>
              <a:t>Together they provide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End-to-end data integrity (TypeScript compile-time + Zod runtime)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Safer database operations — no unvalidated writes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Clear contracts between frontend ↔ backend ↔ database</a:t>
            </a:r>
          </a:p>
          <a:p>
            <a:pPr algn="l">
              <a:spcBef>
                <a:spcPts val="600"/>
              </a:spcBef>
            </a:pPr>
            <a:r>
              <a:rPr sz="1400" b="1" i="0">
                <a:solidFill>
                  <a:srgbClr val="222222"/>
                </a:solidFill>
              </a:rPr>
              <a:t>Gap (known)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Prediction controller currently uses manual parse helpers (parseEventSize, parseBool)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Migrating to Zod schemas is a planned improvement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381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Known Gaps &amp; Planned Improvements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188720"/>
            <a:ext cx="5394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600"/>
              </a:spcBef>
            </a:pPr>
            <a:r>
              <a:rPr sz="1400" b="1" i="0">
                <a:solidFill>
                  <a:srgbClr val="222222"/>
                </a:solidFill>
              </a:rPr>
              <a:t>Missing — Campus Parameters Admin API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campus_parameters table exists and is seeded on startup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No routes registered — values only changeable via direct DB access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Planned: GET /api/admin/campus-parameters + PATCH /api/admin/campus-parameters/:key</a:t>
            </a:r>
          </a:p>
          <a:p>
            <a:pPr algn="l">
              <a:spcBef>
                <a:spcPts val="600"/>
              </a:spcBef>
            </a:pPr>
            <a:r>
              <a:rPr sz="1400" b="1" i="0">
                <a:solidFill>
                  <a:srgbClr val="222222"/>
                </a:solidFill>
              </a:rPr>
              <a:t>Missing — Prediction Route Zod Validation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Prediction controller uses hand-rolled parseEventSize(), parseBool(), parseTermCodes()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Inconsistent with rest of API which uses Zod schemas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Error messages lack field-level detail</a:t>
            </a:r>
          </a:p>
          <a:p>
            <a:pPr algn="l">
              <a:spcBef>
                <a:spcPts val="600"/>
              </a:spcBef>
            </a:pPr>
            <a:r>
              <a:rPr sz="1400" b="1" i="0">
                <a:solidFill>
                  <a:srgbClr val="222222"/>
                </a:solidFill>
              </a:rPr>
              <a:t>Missing — kml-to-edges Script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Presentation references this as a key script for walking distance derivation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Script no longer exists in codebase — distances already seeded but not reproducible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Should be re-added or documented for future recalculation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188720"/>
            <a:ext cx="5394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600"/>
              </a:spcBef>
            </a:pPr>
            <a:r>
              <a:rPr sz="1400" b="1" i="0">
                <a:solidFill>
                  <a:srgbClr val="222222"/>
                </a:solidFill>
              </a:rPr>
              <a:t>Partial — Redis Plan Caching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Redis IS implemented on prediction routes (5-min TTL)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arrivalRecommendation.service.ts uses in-memory Map — not Redis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Cross-request plan caching would reduce repeated expensive plan calculations</a:t>
            </a:r>
          </a:p>
          <a:p>
            <a:pPr algn="l">
              <a:spcBef>
                <a:spcPts val="600"/>
              </a:spcBef>
            </a:pPr>
            <a:r>
              <a:rPr sz="1400" b="1" i="0">
                <a:solidFill>
                  <a:srgbClr val="222222"/>
                </a:solidFill>
              </a:rPr>
              <a:t>Data Limitation — Birmingham Transfer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Birmingham data is UK commercial parking — not university-specific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Business hours only (08:00–16:30); overnight residuals still synthetic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DDM corrections will improve significantly once real UNB sensor data available</a:t>
            </a:r>
          </a:p>
          <a:p>
            <a:pPr algn="l">
              <a:spcBef>
                <a:spcPts val="600"/>
              </a:spcBef>
            </a:pPr>
            <a:r>
              <a:rPr sz="1400" b="1" i="0">
                <a:solidFill>
                  <a:srgbClr val="222222"/>
                </a:solidFill>
              </a:rPr>
              <a:t>Lot Photos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ResidentParking1/2, StaffParking3, TBD lots use placeholder images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Requires physical campus visit to photograph actual lots</a:t>
            </a:r>
          </a:p>
          <a:p>
            <a:pPr algn="l">
              <a:spcBef>
                <a:spcPts val="600"/>
              </a:spcBef>
            </a:pPr>
            <a:r>
              <a:rPr sz="1400" b="1" i="0">
                <a:solidFill>
                  <a:srgbClr val="222222"/>
                </a:solidFill>
              </a:rPr>
              <a:t>Future Enhancements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Real UNB parking sensors → replace synthetic historical data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Admin dashboard for campus parameters and lot management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Push notifications when recommended lot fills up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222222"/>
                </a:solidFill>
              </a:rPr>
              <a:t>  •  Semester-over-semester trend analysis using accumulated real 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